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672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1562100"/>
            <a:ext cx="5324475" cy="499854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1562100"/>
            <a:ext cx="5324475" cy="49985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5" y="559866"/>
            <a:ext cx="6779895" cy="505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9850" y="4247997"/>
            <a:ext cx="6972300" cy="16991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0" y="910678"/>
            <a:ext cx="762000" cy="762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17205" y="1932838"/>
            <a:ext cx="4354195" cy="207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  <a:tabLst>
                <a:tab pos="1965325" algn="l"/>
              </a:tabLst>
            </a:pPr>
            <a:r>
              <a:rPr sz="4800" b="1" spc="-10" dirty="0">
                <a:latin typeface="Arial"/>
                <a:cs typeface="Arial"/>
              </a:rPr>
              <a:t>Focus</a:t>
            </a:r>
            <a:r>
              <a:rPr sz="4800" b="1" dirty="0">
                <a:latin typeface="Arial"/>
                <a:cs typeface="Arial"/>
              </a:rPr>
              <a:t>	</a:t>
            </a:r>
            <a:r>
              <a:rPr sz="4800" b="1" spc="-10" dirty="0">
                <a:latin typeface="Arial"/>
                <a:cs typeface="Arial"/>
              </a:rPr>
              <a:t>Guard</a:t>
            </a:r>
            <a:endParaRPr sz="4800">
              <a:latin typeface="Arial"/>
              <a:cs typeface="Arial"/>
            </a:endParaRPr>
          </a:p>
          <a:p>
            <a:pPr marL="12065" marR="5080" indent="-635" algn="ctr">
              <a:lnSpc>
                <a:spcPct val="159900"/>
              </a:lnSpc>
              <a:spcBef>
                <a:spcPts val="30"/>
              </a:spcBef>
            </a:pPr>
            <a:r>
              <a:rPr sz="1800" spc="-10" dirty="0">
                <a:solidFill>
                  <a:srgbClr val="13B8A6"/>
                </a:solidFill>
              </a:rPr>
              <a:t>Anti-</a:t>
            </a:r>
            <a:r>
              <a:rPr sz="1800" dirty="0">
                <a:solidFill>
                  <a:srgbClr val="13B8A6"/>
                </a:solidFill>
              </a:rPr>
              <a:t>Procrastination</a:t>
            </a:r>
            <a:r>
              <a:rPr sz="1800" spc="-35" dirty="0">
                <a:solidFill>
                  <a:srgbClr val="13B8A6"/>
                </a:solidFill>
              </a:rPr>
              <a:t> </a:t>
            </a:r>
            <a:r>
              <a:rPr sz="1800" dirty="0">
                <a:solidFill>
                  <a:srgbClr val="13B8A6"/>
                </a:solidFill>
              </a:rPr>
              <a:t>Desktop</a:t>
            </a:r>
            <a:r>
              <a:rPr sz="1800" spc="-35" dirty="0">
                <a:solidFill>
                  <a:srgbClr val="13B8A6"/>
                </a:solidFill>
              </a:rPr>
              <a:t> </a:t>
            </a:r>
            <a:r>
              <a:rPr sz="1800" spc="-10" dirty="0">
                <a:solidFill>
                  <a:srgbClr val="13B8A6"/>
                </a:solidFill>
              </a:rPr>
              <a:t>Assistant </a:t>
            </a:r>
            <a:r>
              <a:rPr sz="1800" spc="-10" dirty="0">
                <a:solidFill>
                  <a:srgbClr val="000000"/>
                </a:solidFill>
              </a:rPr>
              <a:t>JavaFX-</a:t>
            </a:r>
            <a:r>
              <a:rPr sz="1800" dirty="0">
                <a:solidFill>
                  <a:srgbClr val="000000"/>
                </a:solidFill>
              </a:rPr>
              <a:t>Based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Productivity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and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Distraction </a:t>
            </a:r>
            <a:r>
              <a:rPr sz="1800" dirty="0">
                <a:solidFill>
                  <a:srgbClr val="000000"/>
                </a:solidFill>
              </a:rPr>
              <a:t>Monitoring</a:t>
            </a:r>
            <a:r>
              <a:rPr sz="1800" spc="-4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System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2609850" y="4247997"/>
            <a:ext cx="6972300" cy="2739724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350" dirty="0" smtClean="0">
                <a:solidFill>
                  <a:srgbClr val="93A2B8"/>
                </a:solidFill>
                <a:latin typeface="Arial"/>
                <a:cs typeface="Arial"/>
              </a:rPr>
              <a:t>Course:</a:t>
            </a:r>
            <a:r>
              <a:rPr sz="1350" spc="-20" dirty="0" smtClean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Object-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Oriented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 smtClean="0">
                <a:solidFill>
                  <a:srgbClr val="F8F9FB"/>
                </a:solidFill>
                <a:latin typeface="Arial"/>
                <a:cs typeface="Arial"/>
              </a:rPr>
              <a:t>Programming</a:t>
            </a:r>
            <a:endParaRPr lang="en-US" sz="13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Saim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Ali (Team lead / Project Manager)</a:t>
            </a: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Musab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Zubair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(Research &amp; Testing lead )</a:t>
            </a: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Muhammad </a:t>
            </a: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Saad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Iftikhar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 (Lead Developer)</a:t>
            </a:r>
            <a:endParaRPr lang="en-US" sz="1050" spc="-10" dirty="0">
              <a:solidFill>
                <a:srgbClr val="334154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Muhammad </a:t>
            </a: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Salar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Khan (UI/UX &amp; Design lead)</a:t>
            </a:r>
            <a:endParaRPr lang="en-US" sz="1400" spc="-10" dirty="0" smtClean="0">
              <a:solidFill>
                <a:schemeClr val="bg1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endParaRPr lang="en-US" dirty="0" smtClean="0"/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endParaRPr lang="en-US" sz="1050" spc="-10" dirty="0" smtClean="0">
              <a:solidFill>
                <a:srgbClr val="334154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r>
              <a:rPr sz="1050" spc="-10" dirty="0" smtClean="0">
                <a:solidFill>
                  <a:srgbClr val="334154"/>
                </a:solidFill>
                <a:latin typeface="Arial"/>
                <a:cs typeface="Arial"/>
              </a:rPr>
              <a:t>Educational</a:t>
            </a:r>
            <a:r>
              <a:rPr sz="1050" spc="-15" dirty="0" smtClean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1050" dirty="0" smtClean="0">
                <a:solidFill>
                  <a:srgbClr val="334154"/>
                </a:solidFill>
                <a:latin typeface="Arial"/>
                <a:cs typeface="Arial"/>
              </a:rPr>
              <a:t>Desktop</a:t>
            </a:r>
            <a:r>
              <a:rPr sz="1050" spc="-10" dirty="0" smtClean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334154"/>
                </a:solidFill>
                <a:latin typeface="Arial"/>
                <a:cs typeface="Arial"/>
              </a:rPr>
              <a:t>Application</a:t>
            </a:r>
            <a:r>
              <a:rPr sz="1050" spc="-10" dirty="0" smtClean="0">
                <a:solidFill>
                  <a:srgbClr val="334154"/>
                </a:solidFill>
                <a:latin typeface="Arial"/>
                <a:cs typeface="Arial"/>
              </a:rPr>
              <a:t> Project</a:t>
            </a:r>
            <a:endParaRPr sz="10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2857500"/>
            <a:ext cx="3486150" cy="320396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2925" y="2857500"/>
            <a:ext cx="3486150" cy="32039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4825" y="2857500"/>
            <a:ext cx="3486150" cy="32039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8325" y="1545374"/>
            <a:ext cx="906335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Students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often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lose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focus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during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study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sessions.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While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simple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timers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count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time,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they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fail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to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measure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actual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focus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quality.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Students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need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comprehensive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tool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to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track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sessions,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distractions,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tasks,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progress.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025" y="2857500"/>
            <a:ext cx="3486150" cy="320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Distractions</a:t>
            </a:r>
            <a:endParaRPr sz="1800">
              <a:latin typeface="Arial"/>
              <a:cs typeface="Arial"/>
            </a:endParaRPr>
          </a:p>
          <a:p>
            <a:pPr marL="302895" marR="298450" algn="ctr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Browsers,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social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media,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entertainment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apps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silently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consume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valuable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time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break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concentration.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2925" y="2857500"/>
            <a:ext cx="3486150" cy="320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Inactivity</a:t>
            </a:r>
            <a:endParaRPr sz="1800">
              <a:latin typeface="Arial"/>
              <a:cs typeface="Arial"/>
            </a:endParaRPr>
          </a:p>
          <a:p>
            <a:pPr marL="358140" marR="351155" indent="635" algn="ctr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Leaving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desk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or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spacing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out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goes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unnoticed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by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traditional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timers,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leading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to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inaccurate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productivity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tracking.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4825" y="2857500"/>
            <a:ext cx="3486150" cy="320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38BCF8"/>
                </a:solidFill>
                <a:latin typeface="Arial"/>
                <a:cs typeface="Arial"/>
              </a:rPr>
              <a:t>Poor</a:t>
            </a: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 Tracking</a:t>
            </a:r>
            <a:endParaRPr sz="1800">
              <a:latin typeface="Arial"/>
              <a:cs typeface="Arial"/>
            </a:endParaRPr>
          </a:p>
          <a:p>
            <a:pPr marL="404495" marR="396875" indent="-635" algn="ctr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Lack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of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historical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analytics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prevents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students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from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identifying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weak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points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improving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habits.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10" name="object 10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3625303"/>
            <a:ext cx="1985365" cy="1159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42171" y="3625303"/>
            <a:ext cx="1985365" cy="1159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3317" y="3625303"/>
            <a:ext cx="1985365" cy="11599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64463" y="3625303"/>
            <a:ext cx="1985365" cy="11599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25609" y="3625303"/>
            <a:ext cx="1985365" cy="115996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68325" y="1545374"/>
            <a:ext cx="897636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FocusGuard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is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desktop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productivity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assistant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that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helps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students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run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F8F9FB"/>
                </a:solidFill>
                <a:latin typeface="Arial"/>
                <a:cs typeface="Arial"/>
              </a:rPr>
              <a:t>goal-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based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focus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sessions,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monitor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inactivity,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detect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distracting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apps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safely,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review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their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study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performance.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32432" y="4766221"/>
            <a:ext cx="9927590" cy="423545"/>
            <a:chOff x="1132432" y="4766221"/>
            <a:chExt cx="9927590" cy="423545"/>
          </a:xfrm>
        </p:grpSpPr>
        <p:sp>
          <p:nvSpPr>
            <p:cNvPr id="10" name="object 10"/>
            <p:cNvSpPr/>
            <p:nvPr/>
          </p:nvSpPr>
          <p:spPr>
            <a:xfrm>
              <a:off x="1132432" y="4911293"/>
              <a:ext cx="9927590" cy="38100"/>
            </a:xfrm>
            <a:custGeom>
              <a:avLst/>
              <a:gdLst/>
              <a:ahLst/>
              <a:cxnLst/>
              <a:rect l="l" t="t" r="r" b="b"/>
              <a:pathLst>
                <a:path w="9927590" h="38100">
                  <a:moveTo>
                    <a:pt x="992713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927132" y="38100"/>
                  </a:lnTo>
                  <a:lnTo>
                    <a:pt x="9927132" y="0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9407" y="4930343"/>
              <a:ext cx="228599" cy="228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59407" y="493034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0553" y="4785271"/>
              <a:ext cx="228600" cy="2286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20553" y="478527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81699" y="4930343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81699" y="493034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42846" y="4785271"/>
              <a:ext cx="2286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242846" y="478527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03992" y="4942065"/>
              <a:ext cx="228600" cy="2286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503992" y="494206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1025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7307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1.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Study </a:t>
            </a:r>
            <a:r>
              <a:rPr sz="1350" spc="-20" dirty="0">
                <a:solidFill>
                  <a:srgbClr val="38BCF8"/>
                </a:solidFill>
                <a:latin typeface="Arial"/>
                <a:cs typeface="Arial"/>
              </a:rPr>
              <a:t>Goal</a:t>
            </a:r>
            <a:endParaRPr sz="1350">
              <a:latin typeface="Arial"/>
              <a:cs typeface="Arial"/>
            </a:endParaRPr>
          </a:p>
          <a:p>
            <a:pPr marL="732790" marR="206375" indent="-519430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Define</a:t>
            </a:r>
            <a:r>
              <a:rPr sz="105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task</a:t>
            </a:r>
            <a:r>
              <a:rPr sz="105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objectives</a:t>
            </a:r>
            <a:r>
              <a:rPr sz="105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93A2B8"/>
                </a:solidFill>
                <a:latin typeface="Arial"/>
                <a:cs typeface="Arial"/>
              </a:rPr>
              <a:t>and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duration.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42171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2100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2.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Focus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Timer</a:t>
            </a:r>
            <a:endParaRPr sz="1350">
              <a:latin typeface="Arial"/>
              <a:cs typeface="Arial"/>
            </a:endParaRPr>
          </a:p>
          <a:p>
            <a:pPr marL="748030" marR="328930" indent="-411480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Initiate</a:t>
            </a:r>
            <a:r>
              <a:rPr sz="1050" spc="-6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distraction-</a:t>
            </a:r>
            <a:r>
              <a:rPr sz="1050" spc="-20" dirty="0">
                <a:solidFill>
                  <a:srgbClr val="93A2B8"/>
                </a:solidFill>
                <a:latin typeface="Arial"/>
                <a:cs typeface="Arial"/>
              </a:rPr>
              <a:t>free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session.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3317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3.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Monitoring</a:t>
            </a:r>
            <a:endParaRPr sz="1350">
              <a:latin typeface="Arial"/>
              <a:cs typeface="Arial"/>
            </a:endParaRPr>
          </a:p>
          <a:p>
            <a:pPr marL="829310" marR="158750" indent="-663575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Track</a:t>
            </a:r>
            <a:r>
              <a:rPr sz="105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inactivity</a:t>
            </a:r>
            <a:r>
              <a:rPr sz="105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&amp;</a:t>
            </a:r>
            <a:r>
              <a:rPr sz="105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distracting apps.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64463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4.</a:t>
            </a:r>
            <a:r>
              <a:rPr sz="1350" spc="-1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Session</a:t>
            </a:r>
            <a:r>
              <a:rPr sz="1350" spc="-1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8BCF8"/>
                </a:solidFill>
                <a:latin typeface="Arial"/>
                <a:cs typeface="Arial"/>
              </a:rPr>
              <a:t>Score</a:t>
            </a:r>
            <a:endParaRPr sz="1350">
              <a:latin typeface="Arial"/>
              <a:cs typeface="Arial"/>
            </a:endParaRPr>
          </a:p>
          <a:p>
            <a:pPr marL="695960" marR="314325" indent="-374650">
              <a:lnSpc>
                <a:spcPct val="159900"/>
              </a:lnSpc>
              <a:spcBef>
                <a:spcPts val="254"/>
              </a:spcBef>
            </a:pP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Calculate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overall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focus efficiency.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625609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55435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5.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Analytics</a:t>
            </a:r>
            <a:endParaRPr sz="1350">
              <a:latin typeface="Arial"/>
              <a:cs typeface="Arial"/>
            </a:endParaRPr>
          </a:p>
          <a:p>
            <a:pPr marL="777875" marR="177165" indent="-593090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Save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locally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&amp;</a:t>
            </a:r>
            <a:r>
              <a:rPr sz="105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review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study history.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3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27" name="object 27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1562100"/>
            <a:ext cx="3517849" cy="2302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6999" y="1562100"/>
            <a:ext cx="3517849" cy="2302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2973" y="1562100"/>
            <a:ext cx="3518001" cy="2302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4103192"/>
            <a:ext cx="3517849" cy="20591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36999" y="4103192"/>
            <a:ext cx="3517849" cy="20591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92973" y="4103192"/>
            <a:ext cx="3518001" cy="20591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1025" y="1562100"/>
            <a:ext cx="3517900" cy="230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Dashboard</a:t>
            </a:r>
            <a:r>
              <a:rPr sz="1500" spc="-1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&amp;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 Analytics</a:t>
            </a:r>
            <a:endParaRPr sz="1500">
              <a:latin typeface="Arial"/>
              <a:cs typeface="Arial"/>
            </a:endParaRPr>
          </a:p>
          <a:p>
            <a:pPr marL="306070" marR="299720" indent="127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View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real-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time productivity metrics 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and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analyze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trends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using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JavaFX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BarChart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and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PieChart.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6999" y="1562100"/>
            <a:ext cx="3517900" cy="230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Focus</a:t>
            </a:r>
            <a:r>
              <a:rPr sz="1500" spc="-3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Timer</a:t>
            </a:r>
            <a:endParaRPr sz="1500">
              <a:latin typeface="Arial"/>
              <a:cs typeface="Arial"/>
            </a:endParaRPr>
          </a:p>
          <a:p>
            <a:pPr marL="212725" marR="20701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Start,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pause,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resume,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end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sessions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utilizing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precision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JavaFX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Timeline.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92973" y="1562100"/>
            <a:ext cx="3518535" cy="230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Inactivity</a:t>
            </a:r>
            <a:r>
              <a:rPr sz="1500" spc="-7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Monitoring</a:t>
            </a:r>
            <a:endParaRPr sz="1500">
              <a:latin typeface="Arial"/>
              <a:cs typeface="Arial"/>
            </a:endParaRPr>
          </a:p>
          <a:p>
            <a:pPr marL="238125" marR="23114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Detect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prolonged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idle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periods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through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mouse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movement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tracking.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025" y="4103192"/>
            <a:ext cx="3517900" cy="2059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Distraction</a:t>
            </a:r>
            <a:r>
              <a:rPr sz="1500" spc="-9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Warnings</a:t>
            </a:r>
            <a:endParaRPr sz="1500">
              <a:latin typeface="Arial"/>
              <a:cs typeface="Arial"/>
            </a:endParaRPr>
          </a:p>
          <a:p>
            <a:pPr marL="340360" marR="33274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Detect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distracting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processes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via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keywords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safe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strict-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mode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warning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overlay.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6999" y="4103192"/>
            <a:ext cx="3517900" cy="2059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Task</a:t>
            </a:r>
            <a:r>
              <a:rPr sz="1500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Planner</a:t>
            </a:r>
            <a:r>
              <a:rPr sz="1500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&amp;</a:t>
            </a:r>
            <a:r>
              <a:rPr sz="1500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History</a:t>
            </a:r>
            <a:endParaRPr sz="1500">
              <a:latin typeface="Arial"/>
              <a:cs typeface="Arial"/>
            </a:endParaRPr>
          </a:p>
          <a:p>
            <a:pPr marL="386715" marR="379095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Plan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goals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review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past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sessions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in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93A2B8"/>
                </a:solidFill>
                <a:latin typeface="Arial"/>
                <a:cs typeface="Arial"/>
              </a:rPr>
              <a:t>a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clean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JavaFX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TableView.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92973" y="4103192"/>
            <a:ext cx="3518535" cy="2059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Local</a:t>
            </a:r>
            <a:r>
              <a:rPr sz="1500" spc="-6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Storage</a:t>
            </a:r>
            <a:endParaRPr sz="1500">
              <a:latin typeface="Arial"/>
              <a:cs typeface="Arial"/>
            </a:endParaRPr>
          </a:p>
          <a:p>
            <a:pPr marL="247015" marR="239395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Maintain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privacy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CSV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properties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file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handling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for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all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settings.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1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15" name="object 15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1562100"/>
            <a:ext cx="5276850" cy="42862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81025" y="1924050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5276850" y="0"/>
                </a:moveTo>
                <a:lnTo>
                  <a:pt x="0" y="0"/>
                </a:lnTo>
                <a:lnTo>
                  <a:pt x="0" y="9525"/>
                </a:lnTo>
                <a:lnTo>
                  <a:pt x="5276850" y="9525"/>
                </a:lnTo>
                <a:lnTo>
                  <a:pt x="5276850" y="0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1025" y="4905222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5276850" y="0"/>
                </a:moveTo>
                <a:lnTo>
                  <a:pt x="0" y="0"/>
                </a:lnTo>
                <a:lnTo>
                  <a:pt x="0" y="9525"/>
                </a:lnTo>
                <a:lnTo>
                  <a:pt x="5276850" y="9525"/>
                </a:lnTo>
                <a:lnTo>
                  <a:pt x="5276850" y="0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8325" y="1545374"/>
            <a:ext cx="4491990" cy="5064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8F9FB"/>
                </a:solidFill>
                <a:latin typeface="Arial"/>
                <a:cs typeface="Arial"/>
              </a:rPr>
              <a:t>Architecture</a:t>
            </a:r>
            <a:r>
              <a:rPr sz="1500" b="1" spc="-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8F9FB"/>
                </a:solidFill>
                <a:latin typeface="Arial"/>
                <a:cs typeface="Arial"/>
              </a:rPr>
              <a:t>Components</a:t>
            </a:r>
            <a:endParaRPr sz="1500">
              <a:latin typeface="Arial"/>
              <a:cs typeface="Arial"/>
            </a:endParaRPr>
          </a:p>
          <a:p>
            <a:pPr marL="346075" marR="548005">
              <a:lnSpc>
                <a:spcPct val="216699"/>
              </a:lnSpc>
              <a:spcBef>
                <a:spcPts val="360"/>
              </a:spcBef>
            </a:pP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MainApp:</a:t>
            </a:r>
            <a:r>
              <a:rPr sz="1350" b="1" spc="-3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Controls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navigation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flow.</a:t>
            </a:r>
            <a:r>
              <a:rPr sz="1350" spc="50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Views:</a:t>
            </a:r>
            <a:r>
              <a:rPr sz="1350" b="1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JavaFX</a:t>
            </a:r>
            <a:r>
              <a:rPr sz="135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programmatic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UI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screens.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Services: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Handles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logic,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monitoring,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&amp;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scoring.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Models:</a:t>
            </a:r>
            <a:r>
              <a:rPr sz="1350" b="1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Stores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sessions,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tasks,</a:t>
            </a:r>
            <a:r>
              <a:rPr sz="135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settings.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UiFactory: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Provides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reusable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UI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components.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F8F9FB"/>
                </a:solidFill>
                <a:latin typeface="Arial"/>
                <a:cs typeface="Arial"/>
              </a:rPr>
              <a:t>OOP </a:t>
            </a:r>
            <a:r>
              <a:rPr sz="1500" b="1" spc="-10" dirty="0">
                <a:solidFill>
                  <a:srgbClr val="F8F9FB"/>
                </a:solidFill>
                <a:latin typeface="Arial"/>
                <a:cs typeface="Arial"/>
              </a:rPr>
              <a:t>Implementation</a:t>
            </a:r>
            <a:endParaRPr sz="1500">
              <a:latin typeface="Arial"/>
              <a:cs typeface="Arial"/>
            </a:endParaRPr>
          </a:p>
          <a:p>
            <a:pPr marL="346075" marR="5080">
              <a:lnSpc>
                <a:spcPct val="216699"/>
              </a:lnSpc>
              <a:spcBef>
                <a:spcPts val="360"/>
              </a:spcBef>
            </a:pP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Inheritance: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Custom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views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extend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JavaFX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nodes.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Encapsulation: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Private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fields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with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getters/setters.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Composition:</a:t>
            </a:r>
            <a:r>
              <a:rPr sz="1350" b="1" spc="-4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StudySession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contains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tracking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events.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Aggregation:</a:t>
            </a:r>
            <a:r>
              <a:rPr sz="1350" b="1" spc="-4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ProductivityStats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uses</a:t>
            </a:r>
            <a:r>
              <a:rPr sz="135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session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data.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25" dirty="0"/>
              <a:t> </a:t>
            </a:r>
            <a:r>
              <a:rPr dirty="0"/>
              <a:t>Architecture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OOP</a:t>
            </a:r>
            <a:r>
              <a:rPr spc="-10" dirty="0"/>
              <a:t> Concepts</a:t>
            </a:r>
          </a:p>
        </p:txBody>
      </p:sp>
      <p:sp>
        <p:nvSpPr>
          <p:cNvPr id="7" name="object 7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2095500"/>
            <a:ext cx="104774" cy="1809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" y="2541244"/>
            <a:ext cx="104774" cy="1809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2986976"/>
            <a:ext cx="104774" cy="1809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025" y="3878465"/>
            <a:ext cx="104774" cy="1809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1025" y="3432721"/>
            <a:ext cx="104774" cy="1809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025" y="5076672"/>
            <a:ext cx="104774" cy="1809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1025" y="5522417"/>
            <a:ext cx="104774" cy="1809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1025" y="5968161"/>
            <a:ext cx="104774" cy="18097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1025" y="6413893"/>
            <a:ext cx="104774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025" y="1562100"/>
            <a:ext cx="5324475" cy="4998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Times New Roman"/>
              <a:cs typeface="Times New Roman"/>
            </a:endParaRPr>
          </a:p>
          <a:p>
            <a:pPr marL="295275">
              <a:lnSpc>
                <a:spcPct val="100000"/>
              </a:lnSpc>
            </a:pP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  <a:p>
            <a:pPr marL="295275" marR="754380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FocusGuard</a:t>
            </a:r>
            <a:r>
              <a:rPr sz="12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is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a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practical</a:t>
            </a:r>
            <a:r>
              <a:rPr sz="12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JavaFX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desktop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assistant</a:t>
            </a:r>
            <a:r>
              <a:rPr sz="12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tailored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for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educational</a:t>
            </a:r>
            <a:r>
              <a:rPr sz="12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8F9FB"/>
                </a:solidFill>
                <a:latin typeface="Arial"/>
                <a:cs typeface="Arial"/>
              </a:rPr>
              <a:t>purposes.</a:t>
            </a:r>
            <a:endParaRPr sz="1200">
              <a:latin typeface="Arial"/>
              <a:cs typeface="Arial"/>
            </a:endParaRPr>
          </a:p>
          <a:p>
            <a:pPr marL="295275" marR="448945">
              <a:lnSpc>
                <a:spcPct val="160000"/>
              </a:lnSpc>
              <a:spcBef>
                <a:spcPts val="35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It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successfully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integrates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GUI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development,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Object-Oriented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Programming,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file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handling,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system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monitoring.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combining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timers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productivity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scoring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analytics,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it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provides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complete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environment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to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support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focused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sessions.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86500" y="1562100"/>
            <a:ext cx="5324475" cy="4998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Times New Roman"/>
              <a:cs typeface="Times New Roman"/>
            </a:endParaRPr>
          </a:p>
          <a:p>
            <a:pPr marL="295275">
              <a:lnSpc>
                <a:spcPct val="100000"/>
              </a:lnSpc>
            </a:pPr>
            <a:r>
              <a:rPr sz="1800" dirty="0">
                <a:solidFill>
                  <a:srgbClr val="38BCF8"/>
                </a:solidFill>
                <a:latin typeface="Arial"/>
                <a:cs typeface="Arial"/>
              </a:rPr>
              <a:t>Future</a:t>
            </a:r>
            <a:r>
              <a:rPr sz="1800" spc="-3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Enhancements</a:t>
            </a:r>
            <a:endParaRPr sz="1800">
              <a:latin typeface="Arial"/>
              <a:cs typeface="Arial"/>
            </a:endParaRPr>
          </a:p>
          <a:p>
            <a:pPr marL="628650" marR="2040255">
              <a:lnSpc>
                <a:spcPct val="216699"/>
              </a:lnSpc>
              <a:spcBef>
                <a:spcPts val="610"/>
              </a:spcBef>
            </a:pP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Multi-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user</a:t>
            </a:r>
            <a:r>
              <a:rPr sz="1350" spc="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profile</a:t>
            </a:r>
            <a:r>
              <a:rPr sz="1350" spc="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support</a:t>
            </a:r>
            <a:r>
              <a:rPr sz="1350" spc="50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Database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integration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(e.g.,</a:t>
            </a:r>
            <a:r>
              <a:rPr sz="135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SQLite)</a:t>
            </a:r>
            <a:endParaRPr sz="1350">
              <a:latin typeface="Arial"/>
              <a:cs typeface="Arial"/>
            </a:endParaRPr>
          </a:p>
          <a:p>
            <a:pPr marL="628650" marR="1573530">
              <a:lnSpc>
                <a:spcPct val="216699"/>
              </a:lnSpc>
            </a:pP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Advanced</a:t>
            </a:r>
            <a:r>
              <a:rPr sz="135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application</a:t>
            </a:r>
            <a:r>
              <a:rPr sz="135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tracking</a:t>
            </a:r>
            <a:r>
              <a:rPr sz="135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algorithms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Automated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break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reminder</a:t>
            </a:r>
            <a:r>
              <a:rPr sz="1350" spc="-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notifications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Automated</a:t>
            </a:r>
            <a:r>
              <a:rPr sz="135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weekly/monthly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PDF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reports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Richer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analytics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data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export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formats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Future</a:t>
            </a:r>
            <a:r>
              <a:rPr spc="-25" dirty="0"/>
              <a:t> </a:t>
            </a:r>
            <a:r>
              <a:rPr spc="-10" dirty="0"/>
              <a:t>Scope</a:t>
            </a:r>
          </a:p>
        </p:txBody>
      </p:sp>
      <p:sp>
        <p:nvSpPr>
          <p:cNvPr id="5" name="object 5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469</Words>
  <Application>Microsoft Office PowerPoint</Application>
  <PresentationFormat>Widescreen</PresentationFormat>
  <Paragraphs>108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Focus Guard Anti-Procrastination Desktop Assistant JavaFX-Based Productivity and Distraction Monitoring System</vt:lpstr>
      <vt:lpstr>Problem and Motivation</vt:lpstr>
      <vt:lpstr>Proposed Solution</vt:lpstr>
      <vt:lpstr>Main Features</vt:lpstr>
      <vt:lpstr>System Architecture &amp; OOP Concepts</vt:lpstr>
      <vt:lpstr>Conclusion &amp; Future Scope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Guard Anti-Procrastination Desktop Assistant JavaFX-Based Productivity and Distraction Monitoring System</dc:title>
  <dc:creator>Saim Ali</dc:creator>
  <cp:lastModifiedBy>Kashif Computers</cp:lastModifiedBy>
  <cp:revision>6</cp:revision>
  <dcterms:created xsi:type="dcterms:W3CDTF">2026-06-04T00:35:33Z</dcterms:created>
  <dcterms:modified xsi:type="dcterms:W3CDTF">2026-10-04T10:19:18Z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LastSaved">
    <vt:filetime>2026-06-04T00:00:00Z</vt:filetime>
  </property>
  <property fmtid="{D5CDD505-2E9C-101B-9397-08002B2CF9AE}" pid="4" name="Producer">
    <vt:lpwstr>3-Heights(TM) PDF Security Shell 4.8.25.2 (http://www.pdf-tools.com)</vt:lpwstr>
  </property>
</Properties>
</file>